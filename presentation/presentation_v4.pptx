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ai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822960"/>
            <a:ext cx="9330576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188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FD1C5"/>
                </a:solidFill>
                <a:latin typeface="DejaVu Sans"/>
              </a:rPr>
              <a:t>Final Year Project · 2025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4F1EB"/>
                </a:solidFill>
                <a:latin typeface="DejaVu Sans"/>
              </a:rPr>
              <a:t>Clock-counter profiling</a:t>
            </a:r>
          </a:p>
          <a:p>
            <a:pPr algn="l"/>
            <a:r>
              <a:rPr sz="4000" b="1" i="0">
                <a:solidFill>
                  <a:srgbClr val="F4F1EB"/>
                </a:solidFill>
                <a:latin typeface="DejaVu Sans"/>
              </a:rPr>
              <a:t>of GPU memory 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1828800" cy="3657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7BA"/>
                </a:solidFill>
                <a:latin typeface="DejaVu Sans"/>
              </a:rPr>
              <a:t>Mapping the four PTX cache modifiers across</a:t>
            </a:r>
          </a:p>
          <a:p>
            <a:pPr algn="l"/>
            <a:r>
              <a:rPr sz="1800" b="0" i="0">
                <a:solidFill>
                  <a:srgbClr val="9FB7BA"/>
                </a:solidFill>
                <a:latin typeface="DejaVu Sans"/>
              </a:rPr>
              <a:t>L1 → L2 → DRAM on Ampere (RTX 3060 Ti)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Pierre Khoury · BSc CS with AI · University of Sussex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7BA"/>
                </a:solidFill>
                <a:latin typeface="DejaVu Sans"/>
              </a:rPr>
              <a:t>Supervisor: 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00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Why AI kernels are slow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14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Memory-bound vs compute-bound · and why NCU counters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429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GPU architecture · RTX 3060 Ti + cache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Nano-benchmarking · sub-instruction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257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Similar work · KPerfIR · CuAsmRL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600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Methodology · clock64 + NCU PMU side by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514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Results · 1000-LDG timing, all on one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429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Timeline + advisor meetings (pointer chains, megainstructions)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DejaVu Sans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1EB"/>
                </a:solidFill>
                <a:latin typeface="DejaVu Sans"/>
              </a:rPr>
              <a:t>Relevance · Intel NEX / PTP, the timing-instruction lineage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9 sections · ≈ 15 min talk + 5 min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Why AI kernels are slow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GPUs do two things · compute (FLOPs) and move bytes.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Most AI kernels finish a load long before the next FLOP issues.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NCU shows it directly: SM-pipe % vs DRAM-pipe %.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On my RTX 3060 Ti, 9 of 12 real DL kernels are memory-bound.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Only big square GEMMs cross the 50/50 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83480"/>
            <a:ext cx="5486400" cy="1234440"/>
          </a:xfrm>
          <a:prstGeom prst="rect">
            <a:avLst/>
          </a:prstGeom>
          <a:solidFill>
            <a:srgbClr val="17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D"/>
                </a:solidFill>
                <a:latin typeface="DejaVu Sans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949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If you want a faster AI kernel, the per-load cost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is what you have to attack · not the per-FLOP cost.</a:t>
            </a:r>
          </a:p>
        </p:txBody>
      </p:sp>
      <p:pic>
        <p:nvPicPr>
          <p:cNvPr id="11" name="Picture 10" descr="s1_compute_vs_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486400" cy="3681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Source: NCU runs in relevance_slide/kernel_zoo_summary.csv (RTX 3060 Ti, SM86)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ref: forums.developer.nvidia.com/t/247658  ·  §1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Memory-bound vs compute-bound · why NCU counters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Roofline: a kernel sits left of the ridge (memory-bound) or right (compute-bound).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Side defines the optimisation target · bytes moved vs FLOPs issued.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Source code alone can't tell you which side: depends on WS, cache state, modifier choice.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NCU PMU counters read the hardware directly · SM-pipe %, DRAM-pipe %, sector hits.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Without the counter, you optimise blind.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37760"/>
            <a:ext cx="5486400" cy="1280160"/>
          </a:xfrm>
          <a:prstGeom prst="rect">
            <a:avLst/>
          </a:prstGeom>
          <a:solidFill>
            <a:srgbClr val="17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D"/>
                </a:solidFill>
                <a:latin typeface="DejaVu Sans"/>
              </a:rPr>
              <a:t>Why this slide exists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Every later slide assumes we can tell memory-bound from compute-bound.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NCU counters are the only ground truth · clock64 alone can't.</a:t>
            </a:r>
          </a:p>
        </p:txBody>
      </p:sp>
      <p:pic>
        <p:nvPicPr>
          <p:cNvPr id="11" name="Picture 10" descr="s2_roo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08760"/>
            <a:ext cx="5440680" cy="3544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Roofline figure: schematic to RTX 3060 Ti scale (peak ≈ 16.2 TFLOP/s, DRAM ≈ 448 GB/s)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ref: forums.developer.nvidia.com/t/247658  ·  §2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GPU architecture · RTX 3060 Ti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Ampere SM86 · 38 SMs, 1.68 GHz SM clock.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Per-SM L1D + SMEM · 128 KB unified partition.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Per-die L2 · 3 MB shared across all SMs.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GDDR6 DRAM · 8 GB device-wide, off-chip.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500">
                <a:solidFill>
                  <a:srgbClr val="F4F1EB"/>
                </a:solidFill>
                <a:latin typeface="DejaVu Sans"/>
              </a:rPr>
              <a:t>Three tiers · and PTX modifiers pick which one serves a load.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5120640" cy="1188720"/>
          </a:xfrm>
          <a:prstGeom prst="rect">
            <a:avLst/>
          </a:prstGeom>
          <a:solidFill>
            <a:srgbClr val="17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D"/>
                </a:solidFill>
                <a:latin typeface="DejaVu Sans"/>
              </a:rPr>
              <a:t>What the latencies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L1: 39 cy   ·   L2: 329 cy   ·   DRAM: 533 cy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8.4× ratio L1→L2 · biggest lever in the hierarchy.</a:t>
            </a:r>
          </a:p>
        </p:txBody>
      </p:sp>
      <p:pic>
        <p:nvPicPr>
          <p:cNvPr id="11" name="Picture 10" descr="s3_hierarchy_3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852160" cy="39677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Latency numbers: pointer-chase, SM86 (paper §Hierarchy Latency)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§3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Nano-benchmarking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Read clock64 before and after a small instruction window.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Time 1000 back-to-back LDGs → divide → per-load cycles.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Pointer-chase keeps ONE load in flight · resolves a single tier.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Pipelined sweep keeps MANY in flight · exposes modifier policy.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Both use the same bracket. Different question, same instrument.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34840"/>
            <a:ext cx="4937760" cy="1783080"/>
          </a:xfrm>
          <a:prstGeom prst="rect">
            <a:avLst/>
          </a:prstGeom>
          <a:solidFill>
            <a:srgbClr val="17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D"/>
                </a:solidFill>
                <a:latin typeface="DejaVu Sans"/>
              </a:rPr>
              <a:t>Why kernel-level isn't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NCU averages thousands of loads into one number.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A 290-cycle L2 fill bleeding into the next bracket can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reverse a modifier ranking · invisible at kernel level.</a:t>
            </a:r>
          </a:p>
        </p:txBody>
      </p:sp>
      <p:pic>
        <p:nvPicPr>
          <p:cNvPr id="11" name="Picture 10" descr="s4_s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17320"/>
            <a:ext cx="6035040" cy="3372242"/>
          </a:xfrm>
          <a:prstGeom prst="rect">
            <a:avLst/>
          </a:prstGeom>
        </p:spPr>
      </p:pic>
      <p:pic>
        <p:nvPicPr>
          <p:cNvPr id="12" name="Picture 11" descr="s4_kernel_vs_subins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160520"/>
            <a:ext cx="6035040" cy="24829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Bracket pattern: paper §Clock Instrumentation (clock64 / CS2R)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§4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Similar work · and what's missing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KPerfIR · instrumentation IR for GPU kernels.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CuAsmRL · RL that reorders SASS memory instructions.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Both treat per-instruction memory cost as an INPUT.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Neither one publishes the instrument that produces it.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We sit in that gap · the per-LDG service-time 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83480"/>
            <a:ext cx="5120640" cy="1234440"/>
          </a:xfrm>
          <a:prstGeom prst="rect">
            <a:avLst/>
          </a:prstGeom>
          <a:solidFill>
            <a:srgbClr val="17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D"/>
                </a:solidFill>
                <a:latin typeface="DejaVu Sans"/>
              </a:rPr>
              <a:t>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949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Profile the EXECUTION side of GPU kernels.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Cycle-accurate, per-instruction, hardware-validated.</a:t>
            </a:r>
          </a:p>
        </p:txBody>
      </p:sp>
      <p:pic>
        <p:nvPicPr>
          <p:cNvPr id="11" name="Picture 10" descr="s5_prior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320"/>
            <a:ext cx="5897880" cy="36328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Refs: KPerfIR 2025, CuAsmRL 2025 (paper §Prior 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§5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Methodology · two instruments, jointly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9377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clock64 reads cycles between two SASS instructions.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NCU PMU reads tag hits, sectors, bytes · post-hoc.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Different physical signals · agreement licenses both.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Disagreement is the interesting part (e.g. bank stall).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Neither alone is enough; together they triangulate.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83480"/>
            <a:ext cx="4937760" cy="1234440"/>
          </a:xfrm>
          <a:prstGeom prst="rect">
            <a:avLst/>
          </a:prstGeom>
          <a:solidFill>
            <a:srgbClr val="17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D"/>
                </a:solidFill>
                <a:latin typeface="DejaVu Sans"/>
              </a:rPr>
              <a:t>Why this combination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949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clock64 is fast and per-instruction but tier-blind.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NCU sees the tier but averages thousands of loads.</a:t>
            </a:r>
          </a:p>
        </p:txBody>
      </p:sp>
      <p:pic>
        <p:nvPicPr>
          <p:cNvPr id="11" name="Picture 10" descr="s6_methodolog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17320"/>
            <a:ext cx="6126480" cy="34706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Source: paper §Clock Instrumentation, §NCU as Independent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§6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What each cache modifier actually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7_modifier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54440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Verified on RTX 3060 Ti (SM86) via cuobjdump · see §6 for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§7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Timeline + what advisor meetings gave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8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84280" cy="22778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8A3D"/>
                </a:solidFill>
                <a:latin typeface="DejaVu Sans"/>
              </a:rPr>
              <a:t>What the supervisor pushed me toward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Don't stop at "per-LDG cycles" · see the chain of dependent loads as a structure (a tree).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If you can describe the traversal up front, the scheduler can prefetch · that's a megainstruction.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Pointer-chase is the smallest version of that idea · one node deep, one path.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Megainstruction = many nodes, one issue · exposes parallelism the compiler currently can't see.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Discussed Jan 2026 (next slide: the godbolt / tree screenshots from those calls).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Supervisor meetings, 2026-01-23 session · full screenshots overleaf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§8 /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Advisor meeting captures · 23 Jan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from 2026-01-23 13-48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69417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1EB"/>
                </a:solidFill>
                <a:latin typeface="DejaVu Sans"/>
              </a:rPr>
              <a:t>Starting point · the pointer-chase kernel</a:t>
            </a:r>
          </a:p>
        </p:txBody>
      </p:sp>
      <p:pic>
        <p:nvPicPr>
          <p:cNvPr id="9" name="Picture 8" descr="Screenshot from 2026-01-23 13-50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48640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369417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1EB"/>
                </a:solidFill>
                <a:latin typeface="DejaVu Sans"/>
              </a:rPr>
              <a:t>godbolt: pointer-chase lowers to a chain of dependent loads</a:t>
            </a:r>
          </a:p>
        </p:txBody>
      </p:sp>
      <p:pic>
        <p:nvPicPr>
          <p:cNvPr id="11" name="Picture 10" descr="Screenshot from 2026-01-23 14-06-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51960"/>
            <a:ext cx="5486400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2881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1EB"/>
                </a:solidFill>
                <a:latin typeface="DejaVu Sans"/>
              </a:rPr>
              <a:t>Generated SASS · the literal instruction stream we're profiling</a:t>
            </a:r>
          </a:p>
        </p:txBody>
      </p:sp>
      <p:pic>
        <p:nvPicPr>
          <p:cNvPr id="13" name="Picture 12" descr="Screenshot from 2026-01-23 14-09-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251960"/>
            <a:ext cx="5486400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652881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1EB"/>
                </a:solidFill>
                <a:latin typeface="DejaVu Sans"/>
              </a:rPr>
              <a:t>The tree · dependency graph behind a megainstruction prefetch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Path: ~/Documents/pointer_chasing_v1/pointer-chase-megaop/docs/screenshots/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§8 / 9 (cont.)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8A3D"/>
                </a:solidFill>
                <a:latin typeface="DejaVu Sa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1EB"/>
                </a:solidFill>
                <a:latin typeface="DejaVu Sans"/>
              </a:rPr>
              <a:t>Relevance · where I learned this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5000"/>
          </a:xfrm>
          <a:prstGeom prst="rect">
            <a:avLst/>
          </a:prstGeom>
          <a:solidFill>
            <a:srgbClr val="9F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FD1C5"/>
                </a:solidFill>
                <a:latin typeface="DejaVu Sans"/>
              </a:rPr>
              <a:t>13 months at Intel · NEX, PTP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64008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NEX = Network &amp; Edge · Ethernet controllers, time-sync silicon.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PTPv2.1 / IEEE 1588-2019 · sub-µs cross-host clock alignment.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Day job: bracket C instructions with RDTSC on a single core.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TPAUSE / serialising fences pin the measurement window.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Average many iterations to dig the signal out of jitter.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DejaVu Sans"/>
              </a:rPr>
              <a:t>/  </a:t>
            </a:r>
            <a:r>
              <a:rPr sz="1400">
                <a:solidFill>
                  <a:srgbClr val="F4F1EB"/>
                </a:solidFill>
                <a:latin typeface="DejaVu Sans"/>
              </a:rPr>
              <a:t>Same pattern, different counter: x86 RDTSC ↔ GPU clock64.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49240"/>
            <a:ext cx="6400800" cy="1005840"/>
          </a:xfrm>
          <a:prstGeom prst="rect">
            <a:avLst/>
          </a:prstGeom>
          <a:solidFill>
            <a:srgbClr val="17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D"/>
                </a:solidFill>
                <a:latin typeface="DejaVu Sans"/>
              </a:rPr>
              <a:t>Why it transferred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6072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The bracket-around-one-instruction methodology works on any</a:t>
            </a:r>
          </a:p>
          <a:p>
            <a:pPr algn="l"/>
            <a:r>
              <a:rPr sz="1300" b="0" i="0">
                <a:solidFill>
                  <a:srgbClr val="F4F1EB"/>
                </a:solidFill>
                <a:latin typeface="DejaVu Sans"/>
              </a:rPr>
              <a:t>ISA that exposes a free-running cycle counter.</a:t>
            </a:r>
          </a:p>
        </p:txBody>
      </p:sp>
      <p:pic>
        <p:nvPicPr>
          <p:cNvPr id="12" name="Picture 11" descr="intel_rdtsc_bra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54480"/>
            <a:ext cx="4663440" cy="18146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78040" y="59436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FB7BA"/>
                </a:solidFill>
                <a:latin typeface="DejaVu Sans"/>
              </a:rPr>
              <a:t>x86 RDTSC bracket · same shape as the GPU clock64 bracket on §4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B7BA"/>
                </a:solidFill>
                <a:latin typeface="DejaVu Sans"/>
              </a:rPr>
              <a:t>Intel NEX / PTP placement, 13 months · methodology lineage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46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B7BA"/>
                </a:solidFill>
                <a:latin typeface="DejaVu Sans"/>
              </a:rPr>
              <a:t>§9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